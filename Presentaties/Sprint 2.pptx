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65" r:id="rId7"/>
    <p:sldId id="258" r:id="rId8"/>
    <p:sldId id="259" r:id="rId9"/>
    <p:sldId id="267" r:id="rId10"/>
    <p:sldId id="266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883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 dirty="0"/>
            <a:t>Afgelopen Sprint</a:t>
          </a:r>
          <a:endParaRPr lang="en-US" dirty="0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Afgelopen Sprint</a:t>
          </a:r>
          <a:endParaRPr lang="en-US" sz="4200" kern="1200" dirty="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Pompen </a:t>
            </a:r>
            <a:r>
              <a:rPr lang="nl-NL" dirty="0" err="1"/>
              <a:t>onzerzoeken</a:t>
            </a:r>
            <a:endParaRPr lang="nl-NL" dirty="0"/>
          </a:p>
          <a:p>
            <a:r>
              <a:rPr lang="nl-NL" dirty="0"/>
              <a:t>Basis vaststellen interface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Waterdichtheid onderzoeken</a:t>
            </a:r>
          </a:p>
          <a:p>
            <a:r>
              <a:rPr lang="nl-NL" dirty="0"/>
              <a:t>Alternatieven?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56161"/>
            <a:ext cx="9905998" cy="1905000"/>
          </a:xfrm>
        </p:spPr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</a:t>
            </a:r>
            <a:r>
              <a:rPr lang="nl-NL" dirty="0" err="1"/>
              <a:t>Unity</a:t>
            </a:r>
            <a:r>
              <a:rPr lang="nl-NL" dirty="0"/>
              <a:t> engine  aan lezingen versnellingsmeter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E12EC3BD-B0DA-61DE-F3B6-49504E16A9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6575521"/>
              </p:ext>
            </p:extLst>
          </p:nvPr>
        </p:nvGraphicFramePr>
        <p:xfrm>
          <a:off x="923376" y="-8184"/>
          <a:ext cx="4884737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4597" imgH="4579730" progId="Excel.Sheet.12">
                  <p:embed/>
                </p:oleObj>
              </mc:Choice>
              <mc:Fallback>
                <p:oleObj name="Worksheet" r:id="rId2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3376" y="-8184"/>
                        <a:ext cx="4884737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41EFE1BF-F12E-C064-48CB-572401EA9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557438"/>
              </p:ext>
            </p:extLst>
          </p:nvPr>
        </p:nvGraphicFramePr>
        <p:xfrm>
          <a:off x="6489338" y="3840480"/>
          <a:ext cx="4884737" cy="2804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9722">
                  <a:extLst>
                    <a:ext uri="{9D8B030D-6E8A-4147-A177-3AD203B41FA5}">
                      <a16:colId xmlns:a16="http://schemas.microsoft.com/office/drawing/2014/main" val="3148505297"/>
                    </a:ext>
                  </a:extLst>
                </a:gridCol>
                <a:gridCol w="479637">
                  <a:extLst>
                    <a:ext uri="{9D8B030D-6E8A-4147-A177-3AD203B41FA5}">
                      <a16:colId xmlns:a16="http://schemas.microsoft.com/office/drawing/2014/main" val="2851521558"/>
                    </a:ext>
                  </a:extLst>
                </a:gridCol>
                <a:gridCol w="671423">
                  <a:extLst>
                    <a:ext uri="{9D8B030D-6E8A-4147-A177-3AD203B41FA5}">
                      <a16:colId xmlns:a16="http://schemas.microsoft.com/office/drawing/2014/main" val="4165103101"/>
                    </a:ext>
                  </a:extLst>
                </a:gridCol>
                <a:gridCol w="717002">
                  <a:extLst>
                    <a:ext uri="{9D8B030D-6E8A-4147-A177-3AD203B41FA5}">
                      <a16:colId xmlns:a16="http://schemas.microsoft.com/office/drawing/2014/main" val="2646005701"/>
                    </a:ext>
                  </a:extLst>
                </a:gridCol>
                <a:gridCol w="1596953">
                  <a:extLst>
                    <a:ext uri="{9D8B030D-6E8A-4147-A177-3AD203B41FA5}">
                      <a16:colId xmlns:a16="http://schemas.microsoft.com/office/drawing/2014/main" val="1370491664"/>
                    </a:ext>
                  </a:extLst>
                </a:gridCol>
              </a:tblGrid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3,285442238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4306686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16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3,080102098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0755002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2,898919621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2270261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2,737868531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4851708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2,593770188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8984765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2,464081678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638556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2,346744455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19450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2,240074253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089903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2,14267972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6368099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24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2,053401399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295008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1,971265343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1333770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26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997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1,895447445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4809155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482002,4668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1,825245688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4356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1,760058342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769777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1,699366675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14535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1,642721119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2410329"/>
                  </a:ext>
                </a:extLst>
              </a:tr>
            </a:tbl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041AD47E-B5A2-1632-50F8-4ADD3C26C3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4291903"/>
              </p:ext>
            </p:extLst>
          </p:nvPr>
        </p:nvGraphicFramePr>
        <p:xfrm>
          <a:off x="6489333" y="-8185"/>
          <a:ext cx="4884752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884597" imgH="4579730" progId="Excel.Sheet.12">
                  <p:embed/>
                </p:oleObj>
              </mc:Choice>
              <mc:Fallback>
                <p:oleObj name="Worksheet" r:id="rId4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89333" y="-8185"/>
                        <a:ext cx="4884752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Tabel 21">
            <a:extLst>
              <a:ext uri="{FF2B5EF4-FFF2-40B4-BE49-F238E27FC236}">
                <a16:creationId xmlns:a16="http://schemas.microsoft.com/office/drawing/2014/main" id="{27FC7C5A-77DE-6FC2-8324-4FC332058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93807"/>
              </p:ext>
            </p:extLst>
          </p:nvPr>
        </p:nvGraphicFramePr>
        <p:xfrm>
          <a:off x="6489345" y="4579496"/>
          <a:ext cx="488473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1251">
                  <a:extLst>
                    <a:ext uri="{9D8B030D-6E8A-4147-A177-3AD203B41FA5}">
                      <a16:colId xmlns:a16="http://schemas.microsoft.com/office/drawing/2014/main" val="1258893861"/>
                    </a:ext>
                  </a:extLst>
                </a:gridCol>
                <a:gridCol w="1380469">
                  <a:extLst>
                    <a:ext uri="{9D8B030D-6E8A-4147-A177-3AD203B41FA5}">
                      <a16:colId xmlns:a16="http://schemas.microsoft.com/office/drawing/2014/main" val="4171875506"/>
                    </a:ext>
                  </a:extLst>
                </a:gridCol>
                <a:gridCol w="1139128">
                  <a:extLst>
                    <a:ext uri="{9D8B030D-6E8A-4147-A177-3AD203B41FA5}">
                      <a16:colId xmlns:a16="http://schemas.microsoft.com/office/drawing/2014/main" val="3778664038"/>
                    </a:ext>
                  </a:extLst>
                </a:gridCol>
                <a:gridCol w="801251">
                  <a:extLst>
                    <a:ext uri="{9D8B030D-6E8A-4147-A177-3AD203B41FA5}">
                      <a16:colId xmlns:a16="http://schemas.microsoft.com/office/drawing/2014/main" val="2523107013"/>
                    </a:ext>
                  </a:extLst>
                </a:gridCol>
                <a:gridCol w="762637">
                  <a:extLst>
                    <a:ext uri="{9D8B030D-6E8A-4147-A177-3AD203B41FA5}">
                      <a16:colId xmlns:a16="http://schemas.microsoft.com/office/drawing/2014/main" val="177706615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𝑔 ⋅ 𝜌/(𝑀⋅ 𝑠)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33495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Moment abs (Nm)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arm tot middelpunt van tank(m)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dichtheidvloeistof (kg/m³)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zwaartekracht (N)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 dirty="0">
                          <a:effectLst/>
                        </a:rPr>
                        <a:t>volume tank (m³)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7828948"/>
                  </a:ext>
                </a:extLst>
              </a:tr>
            </a:tbl>
          </a:graphicData>
        </a:graphic>
      </p:graphicFrame>
      <p:graphicFrame>
        <p:nvGraphicFramePr>
          <p:cNvPr id="23" name="Tabel 22">
            <a:extLst>
              <a:ext uri="{FF2B5EF4-FFF2-40B4-BE49-F238E27FC236}">
                <a16:creationId xmlns:a16="http://schemas.microsoft.com/office/drawing/2014/main" id="{C72E7D47-8349-E9CE-A2B7-B8CB817E1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93496"/>
              </p:ext>
            </p:extLst>
          </p:nvPr>
        </p:nvGraphicFramePr>
        <p:xfrm>
          <a:off x="923362" y="4566672"/>
          <a:ext cx="4884752" cy="2243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3001">
                  <a:extLst>
                    <a:ext uri="{9D8B030D-6E8A-4147-A177-3AD203B41FA5}">
                      <a16:colId xmlns:a16="http://schemas.microsoft.com/office/drawing/2014/main" val="4217936528"/>
                    </a:ext>
                  </a:extLst>
                </a:gridCol>
                <a:gridCol w="1503001">
                  <a:extLst>
                    <a:ext uri="{9D8B030D-6E8A-4147-A177-3AD203B41FA5}">
                      <a16:colId xmlns:a16="http://schemas.microsoft.com/office/drawing/2014/main" val="628425695"/>
                    </a:ext>
                  </a:extLst>
                </a:gridCol>
                <a:gridCol w="1878750">
                  <a:extLst>
                    <a:ext uri="{9D8B030D-6E8A-4147-A177-3AD203B41FA5}">
                      <a16:colId xmlns:a16="http://schemas.microsoft.com/office/drawing/2014/main" val="4147891515"/>
                    </a:ext>
                  </a:extLst>
                </a:gridCol>
              </a:tblGrid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= 𝜌 ⋅ 𝑉 ⋅ 𝑔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𝐹/𝑔 ⋅ 𝜌 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14988331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0998663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F: opwaartse kracht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8511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ρ: dichtheid van de vloeistof [kg/m³]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5311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V: volume van de verplaatste vloeistof [m³]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909181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g: gravitatieversnelling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688860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2699180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𝑀 = 𝐹 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 = 𝑀⋅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4813569"/>
                  </a:ext>
                </a:extLst>
              </a:tr>
              <a:tr h="315321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 de symbolen de volgende betekenis hebben: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756594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 = het moment [Nm]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5313940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 = de kracht (het gewicht per raster vak)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692659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s = de arm [m]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7311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20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1A6A-B458-84A4-EF6D-291CFF7C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taken die niet tot een User story behoren?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66F9-FB30-358B-F615-B59A701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Onderzoeken hoe groot de ballasttanks moeten zijn</a:t>
            </a:r>
          </a:p>
        </p:txBody>
      </p:sp>
    </p:spTree>
    <p:extLst>
      <p:ext uri="{BB962C8B-B14F-4D97-AF65-F5344CB8AC3E}">
        <p14:creationId xmlns:p14="http://schemas.microsoft.com/office/powerpoint/2010/main" val="173125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 wel in bezit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nl-NL"/>
              <a:t>Voortgang User Stories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Ik wil duidelijk kunnen zien in welke hoek de boerderij zich bevindt en in welke toestand de andere onderdelen verkeren, om een duidelijk overzicht te hebben van het systeem. </a:t>
            </a:r>
          </a:p>
          <a:p>
            <a:pPr marL="0" indent="0">
              <a:buNone/>
            </a:pPr>
            <a:r>
              <a:rPr lang="nl-NL" dirty="0"/>
              <a:t>Onder deze user story hoorde: </a:t>
            </a:r>
            <a:br>
              <a:rPr lang="nl-NL" dirty="0"/>
            </a:br>
            <a:r>
              <a:rPr lang="nl-NL" dirty="0"/>
              <a:t>1. Sensordata uitlezen en verwerken</a:t>
            </a:r>
          </a:p>
          <a:p>
            <a:pPr marL="0" indent="0">
              <a:buNone/>
            </a:pPr>
            <a:r>
              <a:rPr lang="nl-NL" dirty="0"/>
              <a:t>2. Data versturen naar een interface</a:t>
            </a:r>
          </a:p>
          <a:p>
            <a:pPr marL="0" indent="0">
              <a:buNone/>
            </a:pPr>
            <a:r>
              <a:rPr lang="nl-NL" dirty="0"/>
              <a:t>3. Data weergeven op een interface</a:t>
            </a:r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Veel voorbereidingsstappen</a:t>
            </a:r>
          </a:p>
          <a:p>
            <a:r>
              <a:rPr lang="nl-NL" dirty="0"/>
              <a:t>Goed vooruitzicht</a:t>
            </a:r>
          </a:p>
          <a:p>
            <a:r>
              <a:rPr lang="nl-NL" dirty="0"/>
              <a:t>Samenwerking en communicatie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71</TotalTime>
  <Words>379</Words>
  <Application>Microsoft Office PowerPoint</Application>
  <PresentationFormat>Breedbeeld</PresentationFormat>
  <Paragraphs>132</Paragraphs>
  <Slides>12</Slides>
  <Notes>0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Ingesloten OLE-bronprogramma's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7" baseType="lpstr">
      <vt:lpstr>Aptos Narrow</vt:lpstr>
      <vt:lpstr>Arial</vt:lpstr>
      <vt:lpstr>Century Gothic</vt:lpstr>
      <vt:lpstr>Mesh</vt:lpstr>
      <vt:lpstr>Microsoft Excel-werkblad</vt:lpstr>
      <vt:lpstr>Sprint review 1</vt:lpstr>
      <vt:lpstr>Inhoud</vt:lpstr>
      <vt:lpstr>Recap</vt:lpstr>
      <vt:lpstr>Afgelopen Sprint</vt:lpstr>
      <vt:lpstr>Demo(‘s)</vt:lpstr>
      <vt:lpstr>PowerPoint-presentatie</vt:lpstr>
      <vt:lpstr>Andere taken die niet tot een User story behoren?</vt:lpstr>
      <vt:lpstr>Deze Taken zijn we nog niet aan toegekomen</vt:lpstr>
      <vt:lpstr>Voortgang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Kyrill Kriek (1054254)</cp:lastModifiedBy>
  <cp:revision>9</cp:revision>
  <dcterms:created xsi:type="dcterms:W3CDTF">2025-09-12T09:06:28Z</dcterms:created>
  <dcterms:modified xsi:type="dcterms:W3CDTF">2025-10-07T09:38:02Z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