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65" r:id="rId6"/>
    <p:sldId id="257" r:id="rId7"/>
    <p:sldId id="258" r:id="rId8"/>
    <p:sldId id="259" r:id="rId9"/>
    <p:sldId id="267" r:id="rId10"/>
    <p:sldId id="266" r:id="rId11"/>
    <p:sldId id="260" r:id="rId12"/>
    <p:sldId id="261" r:id="rId13"/>
    <p:sldId id="263" r:id="rId14"/>
    <p:sldId id="262" r:id="rId15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89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80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 dirty="0"/>
            <a:t>Afgelopen Sprint</a:t>
          </a:r>
          <a:endParaRPr lang="en-US" dirty="0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 dirty="0"/>
            <a:t>Volgende Sprint</a:t>
          </a:r>
          <a:endParaRPr lang="en-US" dirty="0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 dirty="0" err="1"/>
            <a:t>Retrospective</a:t>
          </a:r>
          <a:endParaRPr lang="en-US" dirty="0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 dirty="0"/>
            <a:t>Afgelopen Sprint</a:t>
          </a:r>
          <a:endParaRPr lang="en-US" sz="4200" kern="1200" dirty="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 dirty="0"/>
            <a:t>Volgende Sprint</a:t>
          </a:r>
          <a:endParaRPr lang="en-US" sz="4200" kern="1200" dirty="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 dirty="0" err="1"/>
            <a:t>Retrospective</a:t>
          </a:r>
          <a:endParaRPr lang="en-US" sz="4200" kern="1200" dirty="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emf"/><Relationship Id="rId4" Type="http://schemas.openxmlformats.org/officeDocument/2006/relationships/package" Target="../embeddings/Microsoft_Excel_Worksheet1.xlsx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27615-3D95-9288-3494-F58B3175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5F587-718E-8155-3A8F-2D329323E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1012" y="5516211"/>
            <a:ext cx="8676222" cy="7222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rPr>
              <a:t>Floating Farm?</a:t>
            </a:r>
          </a:p>
        </p:txBody>
      </p:sp>
      <p:pic>
        <p:nvPicPr>
          <p:cNvPr id="5" name="Afbeelding 4" descr="Afbeelding met buitenshuis, plant, staal&#10;&#10;Door AI gegenereerde inhoud is mogelijk onjuist.">
            <a:extLst>
              <a:ext uri="{FF2B5EF4-FFF2-40B4-BE49-F238E27FC236}">
                <a16:creationId xmlns:a16="http://schemas.microsoft.com/office/drawing/2014/main" id="{3BE6EB31-DD18-B678-8AFC-57EDDEF3E3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37" b="1465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2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9743634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Miniatuur pompen onderzoeken</a:t>
            </a:r>
          </a:p>
          <a:p>
            <a:r>
              <a:rPr lang="nl-NL" dirty="0"/>
              <a:t>Basis vaststellen interface in </a:t>
            </a:r>
            <a:r>
              <a:rPr lang="nl-NL" dirty="0" err="1"/>
              <a:t>Unity</a:t>
            </a:r>
            <a:endParaRPr lang="nl-NL" dirty="0"/>
          </a:p>
          <a:p>
            <a:r>
              <a:rPr lang="nl-NL" dirty="0"/>
              <a:t>Waterdichtheid?</a:t>
            </a:r>
          </a:p>
          <a:p>
            <a:r>
              <a:rPr lang="nl-NL" dirty="0"/>
              <a:t>Alternatieven?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556161"/>
            <a:ext cx="9905998" cy="1905000"/>
          </a:xfrm>
        </p:spPr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Koppeling </a:t>
            </a:r>
            <a:r>
              <a:rPr lang="nl-NL" dirty="0" err="1"/>
              <a:t>Unity</a:t>
            </a:r>
            <a:r>
              <a:rPr lang="nl-NL" dirty="0"/>
              <a:t> engine  aan lezingen versnellingsmeter</a:t>
            </a:r>
          </a:p>
          <a:p>
            <a:r>
              <a:rPr lang="nl-NL" dirty="0"/>
              <a:t>Ballasttanks 3D Design + wat voor soort?</a:t>
            </a:r>
          </a:p>
        </p:txBody>
      </p:sp>
      <p:pic>
        <p:nvPicPr>
          <p:cNvPr id="5" name="Picture 4" descr="A diagram of a vent&#10;&#10;AI-generated content may be incorrect.">
            <a:extLst>
              <a:ext uri="{FF2B5EF4-FFF2-40B4-BE49-F238E27FC236}">
                <a16:creationId xmlns:a16="http://schemas.microsoft.com/office/drawing/2014/main" id="{4BC59B4A-D836-3059-81F8-5752D78859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2136" y="985400"/>
            <a:ext cx="7821195" cy="250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ct 19">
            <a:extLst>
              <a:ext uri="{FF2B5EF4-FFF2-40B4-BE49-F238E27FC236}">
                <a16:creationId xmlns:a16="http://schemas.microsoft.com/office/drawing/2014/main" id="{E12EC3BD-B0DA-61DE-F3B6-49504E16A9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6575521"/>
              </p:ext>
            </p:extLst>
          </p:nvPr>
        </p:nvGraphicFramePr>
        <p:xfrm>
          <a:off x="923376" y="-8184"/>
          <a:ext cx="4884737" cy="4579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884597" imgH="4579730" progId="Excel.Sheet.12">
                  <p:embed/>
                </p:oleObj>
              </mc:Choice>
              <mc:Fallback>
                <p:oleObj name="Worksheet" r:id="rId2" imgW="4884597" imgH="457973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23376" y="-8184"/>
                        <a:ext cx="4884737" cy="4579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Tabel 20">
            <a:extLst>
              <a:ext uri="{FF2B5EF4-FFF2-40B4-BE49-F238E27FC236}">
                <a16:creationId xmlns:a16="http://schemas.microsoft.com/office/drawing/2014/main" id="{41EFE1BF-F12E-C064-48CB-572401EA9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2557438"/>
              </p:ext>
            </p:extLst>
          </p:nvPr>
        </p:nvGraphicFramePr>
        <p:xfrm>
          <a:off x="6489338" y="3840480"/>
          <a:ext cx="4884737" cy="2804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9722">
                  <a:extLst>
                    <a:ext uri="{9D8B030D-6E8A-4147-A177-3AD203B41FA5}">
                      <a16:colId xmlns:a16="http://schemas.microsoft.com/office/drawing/2014/main" val="3148505297"/>
                    </a:ext>
                  </a:extLst>
                </a:gridCol>
                <a:gridCol w="479637">
                  <a:extLst>
                    <a:ext uri="{9D8B030D-6E8A-4147-A177-3AD203B41FA5}">
                      <a16:colId xmlns:a16="http://schemas.microsoft.com/office/drawing/2014/main" val="2851521558"/>
                    </a:ext>
                  </a:extLst>
                </a:gridCol>
                <a:gridCol w="671423">
                  <a:extLst>
                    <a:ext uri="{9D8B030D-6E8A-4147-A177-3AD203B41FA5}">
                      <a16:colId xmlns:a16="http://schemas.microsoft.com/office/drawing/2014/main" val="4165103101"/>
                    </a:ext>
                  </a:extLst>
                </a:gridCol>
                <a:gridCol w="717002">
                  <a:extLst>
                    <a:ext uri="{9D8B030D-6E8A-4147-A177-3AD203B41FA5}">
                      <a16:colId xmlns:a16="http://schemas.microsoft.com/office/drawing/2014/main" val="2646005701"/>
                    </a:ext>
                  </a:extLst>
                </a:gridCol>
                <a:gridCol w="1596953">
                  <a:extLst>
                    <a:ext uri="{9D8B030D-6E8A-4147-A177-3AD203B41FA5}">
                      <a16:colId xmlns:a16="http://schemas.microsoft.com/office/drawing/2014/main" val="1370491664"/>
                    </a:ext>
                  </a:extLst>
                </a:gridCol>
              </a:tblGrid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3,285442238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34306686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16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3,080102098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07550029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2,898919621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22702617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2,737868531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48517085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19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2,593770188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8984765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20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2,464081678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76385567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2,346744455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119450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22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2,240074253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089903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23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2,14267972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63680999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24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2,053401399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29500875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1,971265343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13337709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26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997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1,895447445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48091550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482002,4668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1,825245688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1443560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1,760058342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0769777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29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1,699366675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1453575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30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1,642721119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82410329"/>
                  </a:ext>
                </a:extLst>
              </a:tr>
            </a:tbl>
          </a:graphicData>
        </a:graphic>
      </p:graphicFrame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041AD47E-B5A2-1632-50F8-4ADD3C26C38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54291903"/>
              </p:ext>
            </p:extLst>
          </p:nvPr>
        </p:nvGraphicFramePr>
        <p:xfrm>
          <a:off x="6489333" y="-8185"/>
          <a:ext cx="4884752" cy="4579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4884597" imgH="4579730" progId="Excel.Sheet.12">
                  <p:embed/>
                </p:oleObj>
              </mc:Choice>
              <mc:Fallback>
                <p:oleObj name="Worksheet" r:id="rId4" imgW="4884597" imgH="457973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489333" y="-8185"/>
                        <a:ext cx="4884752" cy="4579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Tabel 21">
            <a:extLst>
              <a:ext uri="{FF2B5EF4-FFF2-40B4-BE49-F238E27FC236}">
                <a16:creationId xmlns:a16="http://schemas.microsoft.com/office/drawing/2014/main" id="{27FC7C5A-77DE-6FC2-8324-4FC332058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93807"/>
              </p:ext>
            </p:extLst>
          </p:nvPr>
        </p:nvGraphicFramePr>
        <p:xfrm>
          <a:off x="6489345" y="4579496"/>
          <a:ext cx="4884736" cy="685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1251">
                  <a:extLst>
                    <a:ext uri="{9D8B030D-6E8A-4147-A177-3AD203B41FA5}">
                      <a16:colId xmlns:a16="http://schemas.microsoft.com/office/drawing/2014/main" val="1258893861"/>
                    </a:ext>
                  </a:extLst>
                </a:gridCol>
                <a:gridCol w="1380469">
                  <a:extLst>
                    <a:ext uri="{9D8B030D-6E8A-4147-A177-3AD203B41FA5}">
                      <a16:colId xmlns:a16="http://schemas.microsoft.com/office/drawing/2014/main" val="4171875506"/>
                    </a:ext>
                  </a:extLst>
                </a:gridCol>
                <a:gridCol w="1139128">
                  <a:extLst>
                    <a:ext uri="{9D8B030D-6E8A-4147-A177-3AD203B41FA5}">
                      <a16:colId xmlns:a16="http://schemas.microsoft.com/office/drawing/2014/main" val="3778664038"/>
                    </a:ext>
                  </a:extLst>
                </a:gridCol>
                <a:gridCol w="801251">
                  <a:extLst>
                    <a:ext uri="{9D8B030D-6E8A-4147-A177-3AD203B41FA5}">
                      <a16:colId xmlns:a16="http://schemas.microsoft.com/office/drawing/2014/main" val="2523107013"/>
                    </a:ext>
                  </a:extLst>
                </a:gridCol>
                <a:gridCol w="762637">
                  <a:extLst>
                    <a:ext uri="{9D8B030D-6E8A-4147-A177-3AD203B41FA5}">
                      <a16:colId xmlns:a16="http://schemas.microsoft.com/office/drawing/2014/main" val="177706615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𝑉  = 𝑔 ⋅ 𝜌/(𝑀⋅ 𝑠)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334956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Moment abs (Nm)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arm tot middelpunt van tank(m)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dichtheidvloeistof (kg/m³)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zwaartekracht (N)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 dirty="0">
                          <a:effectLst/>
                        </a:rPr>
                        <a:t>volume tank (m³)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47828948"/>
                  </a:ext>
                </a:extLst>
              </a:tr>
            </a:tbl>
          </a:graphicData>
        </a:graphic>
      </p:graphicFrame>
      <p:graphicFrame>
        <p:nvGraphicFramePr>
          <p:cNvPr id="23" name="Tabel 22">
            <a:extLst>
              <a:ext uri="{FF2B5EF4-FFF2-40B4-BE49-F238E27FC236}">
                <a16:creationId xmlns:a16="http://schemas.microsoft.com/office/drawing/2014/main" id="{C72E7D47-8349-E9CE-A2B7-B8CB817E1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93496"/>
              </p:ext>
            </p:extLst>
          </p:nvPr>
        </p:nvGraphicFramePr>
        <p:xfrm>
          <a:off x="923362" y="4566672"/>
          <a:ext cx="4884752" cy="224318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03001">
                  <a:extLst>
                    <a:ext uri="{9D8B030D-6E8A-4147-A177-3AD203B41FA5}">
                      <a16:colId xmlns:a16="http://schemas.microsoft.com/office/drawing/2014/main" val="4217936528"/>
                    </a:ext>
                  </a:extLst>
                </a:gridCol>
                <a:gridCol w="1503001">
                  <a:extLst>
                    <a:ext uri="{9D8B030D-6E8A-4147-A177-3AD203B41FA5}">
                      <a16:colId xmlns:a16="http://schemas.microsoft.com/office/drawing/2014/main" val="628425695"/>
                    </a:ext>
                  </a:extLst>
                </a:gridCol>
                <a:gridCol w="1878750">
                  <a:extLst>
                    <a:ext uri="{9D8B030D-6E8A-4147-A177-3AD203B41FA5}">
                      <a16:colId xmlns:a16="http://schemas.microsoft.com/office/drawing/2014/main" val="4147891515"/>
                    </a:ext>
                  </a:extLst>
                </a:gridCol>
              </a:tblGrid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𝐹 = 𝜌 ⋅ 𝑉 ⋅ 𝑔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𝑉  = 𝐹/𝑔 ⋅ 𝜌 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14988331"/>
                  </a:ext>
                </a:extLst>
              </a:tr>
              <a:tr h="161164"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Waarin: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09986637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F: opwaartse kracht [N]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485117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ρ: dichtheid van de vloeistof [kg/m³]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453112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V: volume van de verplaatste vloeistof [m³]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8909181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g: gravitatieversnelling [N]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688860"/>
                  </a:ext>
                </a:extLst>
              </a:tr>
              <a:tr h="161164"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2699180"/>
                  </a:ext>
                </a:extLst>
              </a:tr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𝑀 = 𝐹 ⋅ 𝑠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𝐹  = 𝑀⋅ 𝑠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94813569"/>
                  </a:ext>
                </a:extLst>
              </a:tr>
              <a:tr h="315321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Waarin de symbolen de volgende betekenis hebben: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756594"/>
                  </a:ext>
                </a:extLst>
              </a:tr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M = het moment [Nm]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53139402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F = de kracht (het gewicht per raster vak) [N]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692659"/>
                  </a:ext>
                </a:extLst>
              </a:tr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s = de arm [m]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57311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4200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1A6A-B458-84A4-EF6D-291CFF7CF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Andere taken?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B66F9-FB30-358B-F615-B59A701376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Alternatieven?</a:t>
            </a:r>
          </a:p>
          <a:p>
            <a:r>
              <a:rPr lang="nl-NL" dirty="0"/>
              <a:t>Waterdichtheid?</a:t>
            </a:r>
          </a:p>
        </p:txBody>
      </p:sp>
      <p:pic>
        <p:nvPicPr>
          <p:cNvPr id="5" name="Picture 4" descr="A house in the sky with balloons&#10;&#10;AI-generated content may be incorrect.">
            <a:extLst>
              <a:ext uri="{FF2B5EF4-FFF2-40B4-BE49-F238E27FC236}">
                <a16:creationId xmlns:a16="http://schemas.microsoft.com/office/drawing/2014/main" id="{6040765F-E387-0EFC-5B3F-FA4CB4F23E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8382" y="339892"/>
            <a:ext cx="5905500" cy="3543300"/>
          </a:xfrm>
          <a:prstGeom prst="rect">
            <a:avLst/>
          </a:prstGeom>
        </p:spPr>
      </p:pic>
      <p:pic>
        <p:nvPicPr>
          <p:cNvPr id="7" name="Picture 6" descr="A roll of duct tape&#10;&#10;AI-generated content may be incorrect.">
            <a:extLst>
              <a:ext uri="{FF2B5EF4-FFF2-40B4-BE49-F238E27FC236}">
                <a16:creationId xmlns:a16="http://schemas.microsoft.com/office/drawing/2014/main" id="{C2A11E88-FBB5-2ABB-EE24-10FD810555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4867" y="4076700"/>
            <a:ext cx="2254317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256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Taken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Schaalmodel uitbreiden – waterpomp wel in bezit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690F3EE-0CD1-4520-B020-4E1DF3141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9EFDE1E9-7FE0-45CA-9DE2-237F77319A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2270840"/>
          </a:xfrm>
          <a:custGeom>
            <a:avLst/>
            <a:gdLst>
              <a:gd name="connsiteX0" fmla="*/ 0 w 12192000"/>
              <a:gd name="connsiteY0" fmla="*/ 0 h 2270840"/>
              <a:gd name="connsiteX1" fmla="*/ 12192000 w 12192000"/>
              <a:gd name="connsiteY1" fmla="*/ 0 h 2270840"/>
              <a:gd name="connsiteX2" fmla="*/ 12192000 w 12192000"/>
              <a:gd name="connsiteY2" fmla="*/ 519831 h 2270840"/>
              <a:gd name="connsiteX3" fmla="*/ 12192000 w 12192000"/>
              <a:gd name="connsiteY3" fmla="*/ 744794 h 2270840"/>
              <a:gd name="connsiteX4" fmla="*/ 12192000 w 12192000"/>
              <a:gd name="connsiteY4" fmla="*/ 1754022 h 2270840"/>
              <a:gd name="connsiteX5" fmla="*/ 11957522 w 12192000"/>
              <a:gd name="connsiteY5" fmla="*/ 1797924 h 2270840"/>
              <a:gd name="connsiteX6" fmla="*/ 11679973 w 12192000"/>
              <a:gd name="connsiteY6" fmla="*/ 1847668 h 2270840"/>
              <a:gd name="connsiteX7" fmla="*/ 11401197 w 12192000"/>
              <a:gd name="connsiteY7" fmla="*/ 1896361 h 2270840"/>
              <a:gd name="connsiteX8" fmla="*/ 11121192 w 12192000"/>
              <a:gd name="connsiteY8" fmla="*/ 1938047 h 2270840"/>
              <a:gd name="connsiteX9" fmla="*/ 10842416 w 12192000"/>
              <a:gd name="connsiteY9" fmla="*/ 1980084 h 2270840"/>
              <a:gd name="connsiteX10" fmla="*/ 10562411 w 12192000"/>
              <a:gd name="connsiteY10" fmla="*/ 2019319 h 2270840"/>
              <a:gd name="connsiteX11" fmla="*/ 10286091 w 12192000"/>
              <a:gd name="connsiteY11" fmla="*/ 2052948 h 2270840"/>
              <a:gd name="connsiteX12" fmla="*/ 10006086 w 12192000"/>
              <a:gd name="connsiteY12" fmla="*/ 2084826 h 2270840"/>
              <a:gd name="connsiteX13" fmla="*/ 9727310 w 12192000"/>
              <a:gd name="connsiteY13" fmla="*/ 2113902 h 2270840"/>
              <a:gd name="connsiteX14" fmla="*/ 9453445 w 12192000"/>
              <a:gd name="connsiteY14" fmla="*/ 2139124 h 2270840"/>
              <a:gd name="connsiteX15" fmla="*/ 9175897 w 12192000"/>
              <a:gd name="connsiteY15" fmla="*/ 2164346 h 2270840"/>
              <a:gd name="connsiteX16" fmla="*/ 8902033 w 12192000"/>
              <a:gd name="connsiteY16" fmla="*/ 2185365 h 2270840"/>
              <a:gd name="connsiteX17" fmla="*/ 8628169 w 12192000"/>
              <a:gd name="connsiteY17" fmla="*/ 2201829 h 2270840"/>
              <a:gd name="connsiteX18" fmla="*/ 8355533 w 12192000"/>
              <a:gd name="connsiteY18" fmla="*/ 2218995 h 2270840"/>
              <a:gd name="connsiteX19" fmla="*/ 8085353 w 12192000"/>
              <a:gd name="connsiteY19" fmla="*/ 2233357 h 2270840"/>
              <a:gd name="connsiteX20" fmla="*/ 7817629 w 12192000"/>
              <a:gd name="connsiteY20" fmla="*/ 2243516 h 2270840"/>
              <a:gd name="connsiteX21" fmla="*/ 7549905 w 12192000"/>
              <a:gd name="connsiteY21" fmla="*/ 2252274 h 2270840"/>
              <a:gd name="connsiteX22" fmla="*/ 7284638 w 12192000"/>
              <a:gd name="connsiteY22" fmla="*/ 2260681 h 2270840"/>
              <a:gd name="connsiteX23" fmla="*/ 7023055 w 12192000"/>
              <a:gd name="connsiteY23" fmla="*/ 2264535 h 2270840"/>
              <a:gd name="connsiteX24" fmla="*/ 6761472 w 12192000"/>
              <a:gd name="connsiteY24" fmla="*/ 2268738 h 2270840"/>
              <a:gd name="connsiteX25" fmla="*/ 6503573 w 12192000"/>
              <a:gd name="connsiteY25" fmla="*/ 2270840 h 2270840"/>
              <a:gd name="connsiteX26" fmla="*/ 6248130 w 12192000"/>
              <a:gd name="connsiteY26" fmla="*/ 2268738 h 2270840"/>
              <a:gd name="connsiteX27" fmla="*/ 5995144 w 12192000"/>
              <a:gd name="connsiteY27" fmla="*/ 2268738 h 2270840"/>
              <a:gd name="connsiteX28" fmla="*/ 5744613 w 12192000"/>
              <a:gd name="connsiteY28" fmla="*/ 2264535 h 2270840"/>
              <a:gd name="connsiteX29" fmla="*/ 5498995 w 12192000"/>
              <a:gd name="connsiteY29" fmla="*/ 2258229 h 2270840"/>
              <a:gd name="connsiteX30" fmla="*/ 5255834 w 12192000"/>
              <a:gd name="connsiteY30" fmla="*/ 2252274 h 2270840"/>
              <a:gd name="connsiteX31" fmla="*/ 5017584 w 12192000"/>
              <a:gd name="connsiteY31" fmla="*/ 2245618 h 2270840"/>
              <a:gd name="connsiteX32" fmla="*/ 4780562 w 12192000"/>
              <a:gd name="connsiteY32" fmla="*/ 2235459 h 2270840"/>
              <a:gd name="connsiteX33" fmla="*/ 4547227 w 12192000"/>
              <a:gd name="connsiteY33" fmla="*/ 2224599 h 2270840"/>
              <a:gd name="connsiteX34" fmla="*/ 4318800 w 12192000"/>
              <a:gd name="connsiteY34" fmla="*/ 2214791 h 2270840"/>
              <a:gd name="connsiteX35" fmla="*/ 3873004 w 12192000"/>
              <a:gd name="connsiteY35" fmla="*/ 2187116 h 2270840"/>
              <a:gd name="connsiteX36" fmla="*/ 3445628 w 12192000"/>
              <a:gd name="connsiteY36" fmla="*/ 2157691 h 2270840"/>
              <a:gd name="connsiteX37" fmla="*/ 3035446 w 12192000"/>
              <a:gd name="connsiteY37" fmla="*/ 2126863 h 2270840"/>
              <a:gd name="connsiteX38" fmla="*/ 2647370 w 12192000"/>
              <a:gd name="connsiteY38" fmla="*/ 2092884 h 2270840"/>
              <a:gd name="connsiteX39" fmla="*/ 2276487 w 12192000"/>
              <a:gd name="connsiteY39" fmla="*/ 2057502 h 2270840"/>
              <a:gd name="connsiteX40" fmla="*/ 1932621 w 12192000"/>
              <a:gd name="connsiteY40" fmla="*/ 2019319 h 2270840"/>
              <a:gd name="connsiteX41" fmla="*/ 1609634 w 12192000"/>
              <a:gd name="connsiteY41" fmla="*/ 1981836 h 2270840"/>
              <a:gd name="connsiteX42" fmla="*/ 1312435 w 12192000"/>
              <a:gd name="connsiteY42" fmla="*/ 1944353 h 2270840"/>
              <a:gd name="connsiteX43" fmla="*/ 1039799 w 12192000"/>
              <a:gd name="connsiteY43" fmla="*/ 1908972 h 2270840"/>
              <a:gd name="connsiteX44" fmla="*/ 797865 w 12192000"/>
              <a:gd name="connsiteY44" fmla="*/ 1875342 h 2270840"/>
              <a:gd name="connsiteX45" fmla="*/ 579265 w 12192000"/>
              <a:gd name="connsiteY45" fmla="*/ 1843464 h 2270840"/>
              <a:gd name="connsiteX46" fmla="*/ 395052 w 12192000"/>
              <a:gd name="connsiteY46" fmla="*/ 1816841 h 2270840"/>
              <a:gd name="connsiteX47" fmla="*/ 240312 w 12192000"/>
              <a:gd name="connsiteY47" fmla="*/ 1791618 h 2270840"/>
              <a:gd name="connsiteX48" fmla="*/ 27853 w 12192000"/>
              <a:gd name="connsiteY48" fmla="*/ 1755537 h 2270840"/>
              <a:gd name="connsiteX49" fmla="*/ 0 w 12192000"/>
              <a:gd name="connsiteY49" fmla="*/ 1750824 h 2270840"/>
              <a:gd name="connsiteX50" fmla="*/ 0 w 12192000"/>
              <a:gd name="connsiteY50" fmla="*/ 744794 h 2270840"/>
              <a:gd name="connsiteX51" fmla="*/ 0 w 12192000"/>
              <a:gd name="connsiteY51" fmla="*/ 519831 h 227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000" h="2270840">
                <a:moveTo>
                  <a:pt x="0" y="0"/>
                </a:moveTo>
                <a:lnTo>
                  <a:pt x="12192000" y="0"/>
                </a:lnTo>
                <a:lnTo>
                  <a:pt x="12192000" y="519831"/>
                </a:lnTo>
                <a:lnTo>
                  <a:pt x="12192000" y="744794"/>
                </a:lnTo>
                <a:lnTo>
                  <a:pt x="12192000" y="1754022"/>
                </a:lnTo>
                <a:lnTo>
                  <a:pt x="11957522" y="1797924"/>
                </a:lnTo>
                <a:lnTo>
                  <a:pt x="11679973" y="1847668"/>
                </a:lnTo>
                <a:lnTo>
                  <a:pt x="11401197" y="1896361"/>
                </a:lnTo>
                <a:lnTo>
                  <a:pt x="11121192" y="1938047"/>
                </a:lnTo>
                <a:lnTo>
                  <a:pt x="10842416" y="1980084"/>
                </a:lnTo>
                <a:lnTo>
                  <a:pt x="10562411" y="2019319"/>
                </a:lnTo>
                <a:lnTo>
                  <a:pt x="10286091" y="2052948"/>
                </a:lnTo>
                <a:lnTo>
                  <a:pt x="10006086" y="2084826"/>
                </a:lnTo>
                <a:lnTo>
                  <a:pt x="9727310" y="2113902"/>
                </a:lnTo>
                <a:lnTo>
                  <a:pt x="9453445" y="2139124"/>
                </a:lnTo>
                <a:lnTo>
                  <a:pt x="9175897" y="2164346"/>
                </a:lnTo>
                <a:lnTo>
                  <a:pt x="8902033" y="2185365"/>
                </a:lnTo>
                <a:lnTo>
                  <a:pt x="8628169" y="2201829"/>
                </a:lnTo>
                <a:lnTo>
                  <a:pt x="8355533" y="2218995"/>
                </a:lnTo>
                <a:lnTo>
                  <a:pt x="8085353" y="2233357"/>
                </a:lnTo>
                <a:lnTo>
                  <a:pt x="7817629" y="2243516"/>
                </a:lnTo>
                <a:lnTo>
                  <a:pt x="7549905" y="2252274"/>
                </a:lnTo>
                <a:lnTo>
                  <a:pt x="7284638" y="2260681"/>
                </a:lnTo>
                <a:lnTo>
                  <a:pt x="7023055" y="2264535"/>
                </a:lnTo>
                <a:lnTo>
                  <a:pt x="6761472" y="2268738"/>
                </a:lnTo>
                <a:lnTo>
                  <a:pt x="6503573" y="2270840"/>
                </a:lnTo>
                <a:lnTo>
                  <a:pt x="6248130" y="2268738"/>
                </a:lnTo>
                <a:lnTo>
                  <a:pt x="5995144" y="2268738"/>
                </a:lnTo>
                <a:lnTo>
                  <a:pt x="5744613" y="2264535"/>
                </a:lnTo>
                <a:lnTo>
                  <a:pt x="5498995" y="2258229"/>
                </a:lnTo>
                <a:lnTo>
                  <a:pt x="5255834" y="2252274"/>
                </a:lnTo>
                <a:lnTo>
                  <a:pt x="5017584" y="2245618"/>
                </a:lnTo>
                <a:lnTo>
                  <a:pt x="4780562" y="2235459"/>
                </a:lnTo>
                <a:lnTo>
                  <a:pt x="4547227" y="2224599"/>
                </a:lnTo>
                <a:lnTo>
                  <a:pt x="4318800" y="2214791"/>
                </a:lnTo>
                <a:lnTo>
                  <a:pt x="3873004" y="2187116"/>
                </a:lnTo>
                <a:lnTo>
                  <a:pt x="3445628" y="2157691"/>
                </a:lnTo>
                <a:lnTo>
                  <a:pt x="3035446" y="2126863"/>
                </a:lnTo>
                <a:lnTo>
                  <a:pt x="2647370" y="2092884"/>
                </a:lnTo>
                <a:lnTo>
                  <a:pt x="2276487" y="2057502"/>
                </a:lnTo>
                <a:lnTo>
                  <a:pt x="1932621" y="2019319"/>
                </a:lnTo>
                <a:lnTo>
                  <a:pt x="1609634" y="1981836"/>
                </a:lnTo>
                <a:lnTo>
                  <a:pt x="1312435" y="1944353"/>
                </a:lnTo>
                <a:lnTo>
                  <a:pt x="1039799" y="1908972"/>
                </a:lnTo>
                <a:lnTo>
                  <a:pt x="797865" y="1875342"/>
                </a:lnTo>
                <a:lnTo>
                  <a:pt x="579265" y="1843464"/>
                </a:lnTo>
                <a:lnTo>
                  <a:pt x="395052" y="1816841"/>
                </a:lnTo>
                <a:lnTo>
                  <a:pt x="240312" y="1791618"/>
                </a:lnTo>
                <a:lnTo>
                  <a:pt x="27853" y="1755537"/>
                </a:lnTo>
                <a:lnTo>
                  <a:pt x="0" y="1750824"/>
                </a:lnTo>
                <a:lnTo>
                  <a:pt x="0" y="744794"/>
                </a:lnTo>
                <a:lnTo>
                  <a:pt x="0" y="519831"/>
                </a:lnTo>
                <a:close/>
              </a:path>
            </a:pathLst>
          </a:custGeom>
          <a:ln w="44450">
            <a:gradFill>
              <a:gsLst>
                <a:gs pos="0">
                  <a:schemeClr val="bg2">
                    <a:alpha val="65000"/>
                  </a:schemeClr>
                </a:gs>
                <a:gs pos="98000">
                  <a:schemeClr val="bg2">
                    <a:lumMod val="75000"/>
                    <a:alpha val="55000"/>
                  </a:schemeClr>
                </a:gs>
              </a:gsLst>
              <a:lin ang="5400000" scaled="1"/>
            </a:gradFill>
          </a:ln>
          <a:effectLst>
            <a:outerShdw blurRad="50800" dist="38100" dir="5400000" algn="t" rotWithShape="0">
              <a:prstClr val="black">
                <a:alpha val="5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173480"/>
          </a:xfrm>
        </p:spPr>
        <p:txBody>
          <a:bodyPr>
            <a:normAutofit/>
          </a:bodyPr>
          <a:lstStyle/>
          <a:p>
            <a:pPr algn="ctr"/>
            <a:r>
              <a:rPr lang="nl-NL" dirty="0"/>
              <a:t>Voortgang User </a:t>
            </a:r>
            <a:r>
              <a:rPr lang="nl-NL" dirty="0" err="1"/>
              <a:t>Stories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Als gebruiker wil duidelijk kunnen zien in welke hoek de boerderij zich bevindt en in welke toestand de andere onderdelen verkeren, om een duidelijk overzicht te hebben van het systeem. </a:t>
            </a:r>
          </a:p>
          <a:p>
            <a:pPr marL="0" indent="0">
              <a:buNone/>
            </a:pPr>
            <a:r>
              <a:rPr lang="nl-NL" dirty="0"/>
              <a:t>Onder deze user story hoorde: </a:t>
            </a:r>
            <a:br>
              <a:rPr lang="nl-NL" dirty="0"/>
            </a:br>
            <a:r>
              <a:rPr lang="nl-NL" dirty="0"/>
              <a:t>1. Sensordata uitlezen en verwerken</a:t>
            </a:r>
          </a:p>
          <a:p>
            <a:pPr marL="0" indent="0">
              <a:buNone/>
            </a:pPr>
            <a:r>
              <a:rPr lang="nl-NL" dirty="0"/>
              <a:t>2. Data versturen naar een interface</a:t>
            </a:r>
          </a:p>
          <a:p>
            <a:pPr marL="0" indent="0">
              <a:buNone/>
            </a:pPr>
            <a:r>
              <a:rPr lang="nl-NL" dirty="0"/>
              <a:t>3. Data weergeven op een interface</a:t>
            </a:r>
          </a:p>
        </p:txBody>
      </p:sp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dirty="0"/>
              <a:t>Schaalmodel uitbreiden – waterpompen</a:t>
            </a:r>
          </a:p>
          <a:p>
            <a:r>
              <a:rPr lang="nl-NL" dirty="0"/>
              <a:t>Meeting opdrachtgever donderdag</a:t>
            </a:r>
          </a:p>
          <a:p>
            <a:r>
              <a:rPr lang="nl-NL" dirty="0"/>
              <a:t>Dashboard uitbreiden – tot wensen </a:t>
            </a:r>
            <a:br>
              <a:rPr lang="nl-NL" dirty="0"/>
            </a:br>
            <a:r>
              <a:rPr lang="nl-NL" dirty="0"/>
              <a:t>Als gebruiker wil duidelijk kunnen zien in welke hoek de boerderij zich bevindt en in welke toestand de andere onderdelen verkeren, om een duidelijk overzicht te hebben van het systeem. </a:t>
            </a:r>
            <a:br>
              <a:rPr lang="nl-NL" dirty="0"/>
            </a:br>
            <a:r>
              <a:rPr lang="nl-NL" dirty="0"/>
              <a:t>4. Uitbreiden volgens wensen opdrachtgever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Veel voorbereidingsstappen</a:t>
            </a:r>
          </a:p>
          <a:p>
            <a:r>
              <a:rPr lang="nl-NL" dirty="0"/>
              <a:t>Goed vooruitzicht tot taken</a:t>
            </a:r>
          </a:p>
          <a:p>
            <a:r>
              <a:rPr lang="nl-NL" dirty="0"/>
              <a:t>Samenwerking en communicatie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1334</TotalTime>
  <Words>429</Words>
  <Application>Microsoft Office PowerPoint</Application>
  <PresentationFormat>Widescreen</PresentationFormat>
  <Paragraphs>137</Paragraphs>
  <Slides>12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 Narrow</vt:lpstr>
      <vt:lpstr>Arial</vt:lpstr>
      <vt:lpstr>Century Gothic</vt:lpstr>
      <vt:lpstr>Mesh</vt:lpstr>
      <vt:lpstr>Worksheet</vt:lpstr>
      <vt:lpstr>Sprint review 2</vt:lpstr>
      <vt:lpstr>Recap</vt:lpstr>
      <vt:lpstr>Inhoud</vt:lpstr>
      <vt:lpstr>Afgelopen Sprint</vt:lpstr>
      <vt:lpstr>Demo(‘s)</vt:lpstr>
      <vt:lpstr>PowerPoint Presentation</vt:lpstr>
      <vt:lpstr>Andere taken?</vt:lpstr>
      <vt:lpstr>Deze Taken zijn we nog niet aan toegekomen</vt:lpstr>
      <vt:lpstr>Voortgang User Stories</vt:lpstr>
      <vt:lpstr>Volgende Sprint</vt:lpstr>
      <vt:lpstr>retrospective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16</cp:revision>
  <dcterms:created xsi:type="dcterms:W3CDTF">2025-09-12T09:06:28Z</dcterms:created>
  <dcterms:modified xsi:type="dcterms:W3CDTF">2025-10-28T09:36:52Z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